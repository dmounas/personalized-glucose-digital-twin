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01 | PERSONALIZED GLUCOSE DIGITAL TWIN FOR TYPE 2 DIABETES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Leak-Free Ambulatory Glucose Forecasting Framework &amp; Participant-Specific Calibration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Hackathon Submission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Team: DMounas Lab (Debangshu Mounas, Solo)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Affiliation: National Institute of Technology Silchar (NIT Silchar)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Track: Healthcare AI &amp; Continuous Biomarker Intelligence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Repository: DMounas/personalized-glucose-digital-twin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Executive Summary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Evaluated on 45 individuals from PhysioNet CGMacros cohort.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Enforces strict 5-minute guard band against telemetry leakage.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+11.85% population skill over persistence at both 30m &amp; 60m horizons.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6-day online personalization achieves -1.81 mg/dL (8.0%) error reduction (40/45 improved).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02 | TEAM &amp; INSTITUTIONAL AFFILIATION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DMounas Lab — National Institute of Technology Silchar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Debangshu Mounas (Solo Developer &amp; Researcher)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Role: Lead Machine Learning Researcher &amp; Full-Stack System Architect.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Affiliation: National Institute of Technology Silchar (NIT Silchar).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GitHub Profile: @DMounas (https://github.com/DMounas).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Focus: Rigorous ML validation, leakage countermeasures, and physiological digital twins.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Core Values &amp; Engineering Discipline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Research Integrity: Preregistered protocols, zero data snooping, exact reproducibility.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Open Source: Complete public codebase under permissive MIT license.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Safety First: Prominent clinical non-intervention disclaimers and privacy compliance.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Quality Engineering: 135 automated unit/integration tests and multi-version CI (3.10-3.12).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03 | THE PROBLEM: WHY AMBULATORY GLUCOSE ML FAILS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Three Pervasive Pitfalls in Continuous Glucose Monitoring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Hidden Pitfalls in Published Literature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1. Telemetry Interpolation Bleed: CGM hardware transmits every 5 min. Datasets interpolated to 1 min leak future packet values backwards.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2. Intra-Participant Contamination: Standard random K-fold CV mixes readings from the same subject across train and test folds.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3. High Inter-Individual Heterogeneity: Fixed population models fail to capture individual insulin sensitivity and hepatic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The Digital Twin Solution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 mandatory 5-minute guard band gap [t-5, t] eliminating interpolation artifacts.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Strict participant-disjoint cross-validation (50 folds) with training-only preprocessing.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Online residual personalization adapting global models using early patient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04 | HEALTHCARE USE CASE &amp; CLINICAL IMPACT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Empowering Proactive Diabetes Management &amp; Clinical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Clinical Value Chain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Proactive Alerting: 30 to 60 minutes of advance lead time before hyper/hypoglycemia occurs.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Behavioral Intervention Window: Enables timely patient action (light exercise, hydration, meal pacing).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Decision Support: Provides endocrinologists with individual trajectory confidence bounds.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Target Clinical Population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Type 2 Diabetes: Mitigates postprandial glycemic excursions and glycemic variability.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Prediabetes: Delivers biofeedback on dietary sensitivity to prevent progression.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Ambulatory Monitoring: Designed for free-living individuals with self-reported meals.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05 | WHY PHYSIOLOGICAL GLUCOSE FORECASTING MATTERS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Moving from Reactive Continuous Glucose Monitoring to Predictive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The Global Burden of Type 2 Diabetes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Over 537 million adults live with diabetes worldwide (IDF Diabetes Atlas).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Chronic glycemic variability drives microvascular (retinopathy, nephropathy) and macrovascular complications.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Current commercial CGMs are reactive: alarms trigger only after thresholds are breached.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The Promise of Digital Twins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Simulates individual patient response dynamically based on recent telemetry and meals.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Bridges the gap between rigid clinical guidelines and personalized daily living.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Evaluates what-if timing scenarios to optimize metabolic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06 | DATASET: PHYSIONET CGMACROS COHORT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Open-Access Clinical Telemetry (Bent et al., Scientific Data 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Cohort Demographics &amp; Composition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45 ambulatory participants spanning the metabolic health continuum.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Normoglycemic Controls: 15 subjects | Prediabetes: 16 subjects | Type 2 Diabetes: 14 subjects.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Continuous interstitial glucose logged via Dexcom G6 at 1-minute to 5-minute sampling.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Demographics recorded: Age, Sex, Body Mass Index (BMI), and baseline HbA1c.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Data Ingestion &amp; Integrity Standard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Delta t = 60s contiguous run segmentation: zero heuristic interpolation across sensor drops.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Lattice grid alignment: m(t) = round((t - t0) / 60s), issuance restricted to m(t) mod 5 == 0.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123,599 strictly validated evaluation origins across the full cohort.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07 | END-TO-END SYSTEM ARCHITECTURE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Modular Five-Layer Pipeline from Raw Telemetry to Interactive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Data Pipeline &amp; Feature Space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Layer 1: Ingestion &amp; Run Segmentation (Delta t = 60s, lattice grid alignment).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Layer 2: Guarded Feature Extraction (13 lags, 3 meal flags, 4 clinical covariates -&gt; R^20 space).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Layer 3: Global Model Ladder (8 rungs evaluated under 50 participant-disjoint folds).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Adaptation &amp; Delivery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Layer 4: Residual Personalization (regularized Ridge on early 2, 4, 6 study days).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Layer 5: Statistical Verification &amp; UI (bootstrap CIs across 45 subjects, Streamlit dashboard).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Decoupled Architecture: Zero raw data dependencies in production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08 | FIVE ARCHITECTURAL LEAKAGE COUNTERMEASURES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Eliminating Temporal Bleed &amp; Intra-Subject Memorization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Temporal Safeguards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1. 5-Minute Guard Band Gap: Mandatory zero-input buffer [t-5, t] eliminating interpolation bleed.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2. Causal Autoregressive Lags: Strictly bounded to [y(t-65) ... y(t-5)] (60-min window).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3. 120-Minute Purge Buffer: Mandatory blackout separating adaptation days from test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Evaluation Safeguards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4. Participant-Disjoint Stratification: 10 repeated 5-fold CV with 0% subject overlap.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5. Participant-Level Bootstrap: B=2,000 resamples of 45 independent participant units.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Guarantee: No evaluation participant telemetry or demographics ever observed during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09 | THE STAGE 2 GLOBAL FORECASTING LADDER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Progressive 8-Rung Benchmark on Identical Origins (N=123,599)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Benchmark Rungs (0 through 4b)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0: Guarded Persistence baseline — y_base = y(t-5).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1: Damped Trend Extrapolation — velocity damped by tuned gamma.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2: Guarded Ridge Regression — 13 autoregressive history lags.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3: + Activity Ridge — 13 lags + heart rate &amp; METs preceding 30 min.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4 &amp; 4b: + Meal Context — meal timing flags with and without macronutrients.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Advanced Rungs (5 and 6)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5: + Clinical Covariates — 13 lags + meal timing + Age, Sex, BMI, HbA1c (R^20 space).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Rung 6: Fixed GBDT — HistGradientBoostingRegressor on identical R^20 features.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Fairness: Strictly identical evaluation origins across all 50 disjoint folds.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10 | STAGE 2 GLOBAL FORECASTING RESULTS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Rung 5 Ridge Achieves Best Population Performance &amp; Parity with GBDT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Headline Benchmark Metrics (Cohort Mean RMSE)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Persistence (Rung 0): 21.55 mg/dL (+30m) | 29.32 mg/dL (+60m).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Autoregressive Core (Rung 2): 19.87 mg/dL (+30m) | 26.97 mg/dL (+60m) [+8.0% skill].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Selected Foundation (Rung 5): 18.85 mg/dL (+30m) | 25.45 mg/dL (+60m) [+11.85% skill].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Fixed GBDT (Rung 6): 19.15 mg/dL (+30m) | 25.64 mg/dL (+60m) [+11.2% skill].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Why Rung 5 Ridge Was Selected Over GBDT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Statistical Parity: Paired Delta-RMSE between GBDT and Ridge crosses zero at both horizons.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GBDT did not demonstrate a statistically significant overall advantage over linear Ridge.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Ridge guarantees closed-form mathematical stability, millisecond training, and zero fold failures.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11 | STAGE 3 CHRONOLOGICAL PERSONALIZATION METHODOLOGY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Individual Adaptation via Regularized Residual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Experimental Design &amp; Cutoff Guards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Adaptation Windows: Evaluates first 2, 4, and 6 study days per participant.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Temporal Purge: Mandatory &gt;= 120-min blackout period following adaptation cutoff.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Matched Baseline: Compared against matched global baseline on identical post-purge origins.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Residual Calibration Mechanism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Global Foundation: Pre-trained Rung 5 Ridge forecaster.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Residual Target: r(t) = y(t+h) - y_hat_global(t+h).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Participant Ridge: Fits individual model on 16 dynamic features (13 lags + 3 meal timing).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Evaluation: 100% on unseen subsequent study days.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12 | STAGE 3 PERSONALIZATION RESULTS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Statistically Significant Error Reduction Under 6-Day Adaptation (p &lt; 0.05)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+60-Minute Horizon Trajectory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 Study Days: Delta-RMSE = -0.025 mg/dL (n.s., sparse calibration telemetry).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 Study Days: Delta-RMSE = -1.146 mg/dL (p &lt; 0.05, 95% CI strictly excludes zero).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6 Study Days: Delta-RMSE = -1.811 mg/dL [-2.43, -1.09] (8.0% relative error reduction).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Cohort Benefit: 40 out of 45 participants (88.9%) improve over global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Clinical Subgroup Stratification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Normal Controls: -1.33 mg/dL error change (tight endogenous insulin buffering).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Prediabetes: -1.82 mg/dL error change (moderate glycemic excursions).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Type 2 Diabetes: -2.34 mg/dL error change (largest absolute therapeutic benefit).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13 | INTERACTIVE RESEARCH DASHBOARD TOUR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Light Dual-Tone Clinical Interface Built with Streamlit &amp; Plotly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Four Analytical Modules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1. Project Overview: Executive cohort statistics, ML failure modes, and system architecture.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2. Global Forecasting Explorer: Interactive horizon toggle (+30m, +60m), 8-rung benchmark ladder with 95% CIs.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3. Personalization Lab: Dynamic adaptation window controls (2, 4, 6 days), dose-response plots, subgroup table.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4. Methodology &amp; Guard Band: Guard-band schematic, protocol comparison, and responsible use guidelines.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Dashboard Engineering Strengths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Mild green and white dual-tone clinical palette with zero emojis.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Runs entirely on verified aggregate metrics — zero raw data requirement.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Immediate local launch via 'streamlit run app.py' and pre-configured for Cloud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14 | TECHNICAL ARCHITECTURE &amp; REPOSITORY HYGIENE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Production-Grade Research Engineering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Core Technologies &amp; Libraries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Languages: Python 3.10, 3.11, 3.12 (native compatibility verified).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Machine Learning: Scikit-learn (Ridge, HistGradientBoosting, GroupKFold).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Data &amp; Math: NumPy, Pandas, PyYAML.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Interactive UI: Streamlit, Plotly (interactive charts and responsive layouts).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Quality Gates &amp; CI/CD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135 automated unit and regression tests passing cleanly via pytest.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Strict linting and code formatting enforced by Ruff (0 violations).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Static type safety verified across all modules via Mypy (0 issues).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GitHub Actions CI matrix verifying every commit across 3 Python versions.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15 | LIMITATIONS &amp; RESPONSIBLE AI FRAMEWORK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Scientific Rigor, Observational Boundaries &amp; Clinical Disclaimers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Methodological Scope &amp; Limitations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Observational Data: Observational cohort telemetry does not establish causal physiological effects.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No Automated Control: Digital twin benchmarks forecasting accuracy; it does not simulate closed-loop insulin delivery.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Sensor Hardware Drift: Does not model acute subcutaneous sensor displacement or pressure-induced sensor attenuation.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Responsible AI Commitments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Not FDA-cleared: Research prototype strictly intended for benchmarking and education.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Not a diagnostic or treatment system; never substitute for professional medical care.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Privacy: Zero Protected Health Information (PHI) stored or displayed.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16 | CONCLUSION &amp; STRATEGIC IMPACT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Key Takeaways from the Glucose Digital Twin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Summary of Contributions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1. Defensible Methodology: Established the 5-min guard band and temporal purge standard for CGM ML.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2. Benchmark Reference: Proven that Rung 5 Ridge achieves +11.8% skill with mathematical stability.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3. Personalization Proof: 6-day online adaptation delivers a statistically significant 8.0% error reduction (p &lt; 0.05).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4. Clinical Benefit: Greatest error drop (-2.34 mg/dL) observed in Type 2 Diabetic individuals.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Future Horizons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Integration with wearable fitness and meal photologging sensors.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Expansion to multi-day circadian and nocturnal hypoglycemia forecasting.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Federated on-device adaptation preserving patient privacy at the edge.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700">
                <a:solidFill>
                  <a:srgbClr val="14532D"/>
                </a:solidFill>
                <a:latin typeface="Arial"/>
              </a:defRPr>
            </a:pPr>
            <a:r>
              <a:t>17 | REPOSITORY, DEMO &amp; SUBMISSION LINKS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All Artifacts Are Publicly Accessible and Reproducible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Public Repository Resources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GitHub Repository: https://github.com/DMounas/personalized-glucose-digital-twin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Architecture PDF &amp; PPTX: docs/submission/architecture.pdf / architecture.pptx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Presentation PDF &amp; PPTX: docs/submission/presentation.pdf / presentation.pptx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Video Demonstration Script: docs/submission/DEMO_SCRIPT.md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50876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b="1" sz="1400">
                <a:solidFill>
                  <a:srgbClr val="16A34A"/>
                </a:solidFill>
                <a:latin typeface="Arial"/>
              </a:defRPr>
            </a:pPr>
            <a:r>
              <a:t>Open Source Attribution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Software License: MIT License (Copyright 2026 Debangshu Mounas).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Dataset Source: PhysioNet CGMacros 1.0.0 (Bent et al., Scientific Data 2025).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Interactive Launch: streamlit run app.py (localhost:8501).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Thank you for reviewing the DMounas Lab Hackathon Submission!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