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800">
                <a:solidFill>
                  <a:srgbClr val="14532D"/>
                </a:solidFill>
                <a:latin typeface="Arial"/>
              </a:defRPr>
            </a:pPr>
            <a:r>
              <a:t>GLUCOSE DIGITAL TWIN — END-TO-END SYSTEM ARCHITECTURE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Leak-Free Ambulatory Glucose Forecasting Framework &amp; Participant-Specific Residual Personalization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950">
                <a:solidFill>
                  <a:srgbClr val="16A34A"/>
                </a:solidFill>
                <a:latin typeface="Arial"/>
              </a:defRPr>
            </a:pPr>
            <a:r>
              <a:t>STAGE 01</a:t>
            </a:r>
          </a:p>
          <a:p>
            <a:pPr>
              <a:defRPr b="1" sz="1300">
                <a:solidFill>
                  <a:srgbClr val="14532D"/>
                </a:solidFill>
                <a:latin typeface="Arial"/>
              </a:defRPr>
            </a:pPr>
            <a:r>
              <a:t>DATA INGESTION &amp; QC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PhysioNet CGMacros (N=45)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45 ambulatory participants across Normal (15), Prediabetes (16), T2D (14).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Contiguous run segmentation with strict Delta t = 60s rule.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Zero gap interpolation — runs truncate on missing telemetry.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Lattice grid alignment: m(t) = round((t - t0) / 60s), issuance on m(t) mod 5 ==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919472"/>
            <a:ext cx="2331720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b="1" sz="750">
                <a:solidFill>
                  <a:srgbClr val="14532D"/>
                </a:solidFill>
                <a:latin typeface="Arial"/>
              </a:defRPr>
            </a:pPr>
            <a:r>
              <a:t>LEAKAGE SAFEGUARD:</a:t>
            </a:r>
            <a:br/>
            <a:r>
              <a:t>Zero boundary bleed; strict 1-min raw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1645920"/>
            <a:ext cx="26060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950">
                <a:solidFill>
                  <a:srgbClr val="16A34A"/>
                </a:solidFill>
                <a:latin typeface="Arial"/>
              </a:defRPr>
            </a:pPr>
            <a:r>
              <a:t>STAGE 02</a:t>
            </a:r>
          </a:p>
          <a:p>
            <a:pPr>
              <a:defRPr b="1" sz="1300">
                <a:solidFill>
                  <a:srgbClr val="14532D"/>
                </a:solidFill>
                <a:latin typeface="Arial"/>
              </a:defRPr>
            </a:pPr>
            <a:r>
              <a:t>GUARDED FEATURE MATRIX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R^20 Multimodal Predictor Space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Guarded Glucose History (13 lags): y(t-65) through y(t-5) over 60-min window.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5-min Guard Band Gap: zero input permitted in [t-5, t] window.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Meal-Timing Context (3 features): time since meal, meal in 60m, no recent meal.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Clinical Demographics (4 static): Age, Sex, BMI, Baseline HbA1c.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1296" y="4919472"/>
            <a:ext cx="2331720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b="1" sz="750">
                <a:solidFill>
                  <a:srgbClr val="14532D"/>
                </a:solidFill>
                <a:latin typeface="Arial"/>
              </a:defRPr>
            </a:pPr>
            <a:r>
              <a:t>LEAKAGE SAFEGUARD:</a:t>
            </a:r>
            <a:br/>
            <a:r>
              <a:t>5-MIN GUARD BAND: prevents interpolation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45920"/>
            <a:ext cx="26060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950">
                <a:solidFill>
                  <a:srgbClr val="16A34A"/>
                </a:solidFill>
                <a:latin typeface="Arial"/>
              </a:defRPr>
            </a:pPr>
            <a:r>
              <a:t>STAGE 03</a:t>
            </a:r>
          </a:p>
          <a:p>
            <a:pPr>
              <a:defRPr b="1" sz="1300">
                <a:solidFill>
                  <a:srgbClr val="14532D"/>
                </a:solidFill>
                <a:latin typeface="Arial"/>
              </a:defRPr>
            </a:pPr>
            <a:r>
              <a:t>GLOBAL BENCHMARK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Disjoint CV Ladder (Rungs 0-6)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10 repeated 5-fold CV (50 disjoint folds, K=45 subjects).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Train-only scaling &amp; closed-form alpha hyperparameter selection.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Rung 0: Guarded Persistence baseline (RMSE 21.55 / 29.32 mg/dL).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Rung 5 Ridge: best global model (+11.8% skill at +30m &amp; +60m).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Rung 6 GBDT: nonlinear comparison (no stat. gain over Ridge).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4919472"/>
            <a:ext cx="2331720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b="1" sz="750">
                <a:solidFill>
                  <a:srgbClr val="14532D"/>
                </a:solidFill>
                <a:latin typeface="Arial"/>
              </a:defRPr>
            </a:pPr>
            <a:r>
              <a:t>LEAKAGE SAFEGUARD:</a:t>
            </a:r>
            <a:br/>
            <a:r>
              <a:t>PARTICIPANT-DISJOINT: 0% intra-subject identity bleed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5128" y="1645920"/>
            <a:ext cx="26060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950">
                <a:solidFill>
                  <a:srgbClr val="16A34A"/>
                </a:solidFill>
                <a:latin typeface="Arial"/>
              </a:defRPr>
            </a:pPr>
            <a:r>
              <a:t>STAGE 04</a:t>
            </a:r>
          </a:p>
          <a:p>
            <a:pPr>
              <a:defRPr b="1" sz="1300">
                <a:solidFill>
                  <a:srgbClr val="14532D"/>
                </a:solidFill>
                <a:latin typeface="Arial"/>
              </a:defRPr>
            </a:pPr>
            <a:r>
              <a:t>PERSONALIZATION &amp; UI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Stage 3 Residual Adaptation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Chronological adaptation on early 2, 4, 6 study days.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Ridge residual correction on r(t) = y(t+h) - y_hat_global.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6-Day adaptation: -1.81 mg/dL (-8.0%) at +60m (40/45 improved).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Streamlit Dashboard: interactive research exploration across 4 modules.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62288" y="4919472"/>
            <a:ext cx="2331720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b="1" sz="750">
                <a:solidFill>
                  <a:srgbClr val="14532D"/>
                </a:solidFill>
                <a:latin typeface="Arial"/>
              </a:defRPr>
            </a:pPr>
            <a:r>
              <a:t>LEAKAGE SAFEGUARD:</a:t>
            </a:r>
            <a:br/>
            <a:r>
              <a:t>&gt;= 120-MIN PURGE BUFFER: prevents autoregressive spillover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15000"/>
            <a:ext cx="1109441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000">
                <a:solidFill>
                  <a:srgbClr val="14532D"/>
                </a:solidFill>
              </a:defRPr>
            </a:pPr>
            <a:r>
              <a:t>CORE EMPIRICAL HIGHLIGHTS &amp; VALIDATION GUARANTEES</a:t>
            </a:r>
          </a:p>
          <a:p>
            <a:pPr>
              <a:defRPr sz="950" b="1">
                <a:solidFill>
                  <a:srgbClr val="16A34A"/>
                </a:solidFill>
              </a:defRPr>
            </a:pPr>
            <a:r>
              <a:t>123,599 strictly evaluated origins | 50 disjoint folds | Global Skill: +11.82% (+30m), +11.85% (+60m) vs Persistence | 6-Day Personalization: -1.81 mg/dL (-8.0% error, p &lt; 0.05, 40/45 improved) | Zero data leakage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